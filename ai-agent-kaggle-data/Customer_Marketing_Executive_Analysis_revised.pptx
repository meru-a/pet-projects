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58" autoAdjust="0"/>
  </p:normalViewPr>
  <p:slideViewPr>
    <p:cSldViewPr snapToGrid="0" snapToObjects="1">
      <p:cViewPr>
        <p:scale>
          <a:sx n="75" d="100"/>
          <a:sy n="75" d="100"/>
        </p:scale>
        <p:origin x="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Average spend per customer by product (€)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A9688"/>
            </a:solidFill>
            <a:ln>
              <a:solidFill>
                <a:srgbClr val="1A9688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Wine</c:v>
                </c:pt>
                <c:pt idx="1">
                  <c:v>Meat</c:v>
                </c:pt>
                <c:pt idx="2">
                  <c:v>Gold</c:v>
                </c:pt>
                <c:pt idx="3">
                  <c:v>Fish</c:v>
                </c:pt>
                <c:pt idx="4">
                  <c:v>Fruits</c:v>
                </c:pt>
                <c:pt idx="5">
                  <c:v>Sweets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305.09160649819495</c:v>
                </c:pt>
                <c:pt idx="1">
                  <c:v>166.99593862815885</c:v>
                </c:pt>
                <c:pt idx="2">
                  <c:v>43.965252707581229</c:v>
                </c:pt>
                <c:pt idx="3">
                  <c:v>37.637635379061372</c:v>
                </c:pt>
                <c:pt idx="4">
                  <c:v>26.356046931407942</c:v>
                </c:pt>
                <c:pt idx="5">
                  <c:v>27.028880866425993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A9688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D83-4F4F-9951-52E06FD4F4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Latest campaign response rate by total-spend quartile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2068AA"/>
            </a:solidFill>
            <a:ln>
              <a:solidFill>
                <a:srgbClr val="2068AA"/>
              </a:solidFill>
            </a:ln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
lowest</c:v>
                </c:pt>
                <c:pt idx="1">
                  <c:v>Q2</c:v>
                </c:pt>
                <c:pt idx="2">
                  <c:v>Q3</c:v>
                </c:pt>
                <c:pt idx="3">
                  <c:v>Q4
highest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6.0498220640569395E-2</c:v>
                </c:pt>
                <c:pt idx="1">
                  <c:v>0.12087912087912088</c:v>
                </c:pt>
                <c:pt idx="2">
                  <c:v>0.11891891891891893</c:v>
                </c:pt>
                <c:pt idx="3">
                  <c:v>0.30198915009041594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068A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EA6-40B1-A877-8354A55293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>
                <a:solidFill>
                  <a:srgbClr val="0F2747"/>
                </a:solidFill>
              </a:defRPr>
            </a:pPr>
            <a:r>
              <a:rPr lang="en-US"/>
              <a:t>Average purchases per customer by channel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E9A22D"/>
            </a:solidFill>
            <a:ln>
              <a:solidFill>
                <a:srgbClr val="E9A22D"/>
              </a:solidFill>
            </a:ln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Catalog</c:v>
                </c:pt>
                <c:pt idx="2">
                  <c:v>Store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4.0852888086642603</c:v>
                </c:pt>
                <c:pt idx="1">
                  <c:v>2.6710288808664262</c:v>
                </c:pt>
                <c:pt idx="2">
                  <c:v>5.8009927797833933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9A22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6E-42BF-A73F-D7F2253841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DCE2E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9778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11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data points to a more selective commercial model. Spend is heavily concentrated, while historic campaign acceptance is the strongest observable signal of near-term response. The opportunity is to allocate offer investment to proven responders and protect the premium wine-led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Response is not uniform across the file: high-spend customers are more responsive, and prior acceptance creates a much stronger lift. This supports a two-step targeting rule: first filter to known responders, then tailor the offer and contact investment by customer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recommend three practical tests rather than a single broad rollout: premium retention, response-history targeting, and digital conversion triggers. The file is rich for segmentation but cannot establish incremental profit, so each action should include a holdout and profitability measurement. With campaign-exposure and margin data, the next step is a response or uplift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imakash3011/customer-personality-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The growth agenda is precision: protect high-value buyers and re-activate proven responders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rPr dirty="0"/>
              <a:t>Customer Personality Analysis | spend, channel and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496312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1A9688"/>
                </a:solidFill>
                <a:latin typeface="Aptos"/>
              </a:defRPr>
            </a:pPr>
            <a:r>
              <a:t>61%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437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of total spend from the top spend quartile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237744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87168" y="2496312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E9A22D"/>
                </a:solidFill>
                <a:latin typeface="Aptos"/>
              </a:defRPr>
            </a:pPr>
            <a:r>
              <a:t>15.0%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8437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campaign response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59" y="237744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61688" y="2496312"/>
            <a:ext cx="14264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200" b="1">
                <a:solidFill>
                  <a:srgbClr val="2068AA"/>
                </a:solidFill>
                <a:latin typeface="Aptos"/>
              </a:defRPr>
            </a:pPr>
            <a:r>
              <a:t>1.3×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843784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t>web visits per web purchase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55080" y="2322576"/>
          <a:ext cx="5230368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82512" y="4462272"/>
            <a:ext cx="5074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rPr dirty="0"/>
              <a:t>Interpretation: Wine contributes €30</a:t>
            </a:r>
            <a:r>
              <a:rPr lang="en-US" dirty="0"/>
              <a:t>5</a:t>
            </a:r>
            <a:r>
              <a:rPr dirty="0"/>
              <a:t>/customer—over half of category spend—making it the clearest premium-product anchor.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29584"/>
            <a:ext cx="5376672" cy="2615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Five findings that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33087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1  Concentration: the top 25% of spenders generate 61% of all category spend.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89704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2  Campaign memory: previous accepters respond at 40.7% vs 8.3% for everyone else (4.9×).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846320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3  Product mix: wine is 50% of average customer spend; meat is the second-largest basket.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202936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t>4  Channel reality: stores lead at 5.8 purchases/customer vs 4.1 online.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559552"/>
            <a:ext cx="484632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5  Digital friction: customers make 1.3 monthly web visits for each web purchase.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56248"/>
            <a:ext cx="987552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rPr dirty="0"/>
              <a:t>Source: </a:t>
            </a:r>
            <a:r>
              <a:rPr dirty="0">
                <a:hlinkClick r:id="rId4"/>
              </a:rPr>
              <a:t>Kaggle Customer Personality Analysis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1536192"/>
            <a:ext cx="111373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1682496"/>
            <a:ext cx="54864" cy="246888"/>
          </a:xfrm>
          <a:prstGeom prst="round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1636776"/>
            <a:ext cx="169164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2,216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rPr dirty="0"/>
              <a:t>customers with usable income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1664208"/>
            <a:ext cx="10972" cy="265176"/>
          </a:xfrm>
          <a:prstGeom prst="rect">
            <a:avLst/>
          </a:prstGeom>
          <a:solidFill>
            <a:srgbClr val="DAE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3776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2 years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rPr dirty="0"/>
              <a:t>of spend and purchase history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1664208"/>
            <a:ext cx="10972" cy="265176"/>
          </a:xfrm>
          <a:prstGeom prst="rect">
            <a:avLst/>
          </a:prstGeom>
          <a:solidFill>
            <a:srgbClr val="DAE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0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6 categories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t>product-level spend signals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1664208"/>
            <a:ext cx="10972" cy="265176"/>
          </a:xfrm>
          <a:prstGeom prst="rect">
            <a:avLst/>
          </a:prstGeom>
          <a:solidFill>
            <a:srgbClr val="DAE3EB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35440" y="162763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3 channels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1847088"/>
            <a:ext cx="193852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0">
                <a:solidFill>
                  <a:srgbClr val="697787"/>
                </a:solidFill>
                <a:latin typeface="Aptos"/>
              </a:defRPr>
            </a:pPr>
            <a:r>
              <a:t>web, catalogue and store purchases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4910328"/>
            <a:ext cx="5230368" cy="1097280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01968" y="514807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ADD6EE"/>
                </a:solidFill>
                <a:latin typeface="Aptos"/>
              </a:defRPr>
            </a:pPr>
            <a:r>
              <a:t>EXECUTIVE READ-THROUGH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1968" y="5404104"/>
            <a:ext cx="4498848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Focus investment where value and response overlap: protect premium spenders, then use campaign memory to improve contact efficiency.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OPPORTUNITY SIZING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Response rises with customer value—but historical acceptance is the decisive targeting 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t>The broad base responds weakly; a behavior-led audience can materially improve campaign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627632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98848"/>
            <a:ext cx="5074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rPr dirty="0"/>
              <a:t>Interpretation: response climbs from 6.0% in the lowest-spend quartile to 30.2% in the highest, supporting value-tiered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1627632"/>
            <a:ext cx="5632704" cy="3145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1">
                <a:solidFill>
                  <a:srgbClr val="0F2747"/>
                </a:solidFill>
                <a:latin typeface="Aptos"/>
              </a:defRPr>
            </a:pPr>
            <a:r>
              <a:t>Prior acceptance creates a high-propensity micro-audience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2359152"/>
            <a:ext cx="1444752" cy="1005840"/>
          </a:xfrm>
          <a:prstGeom prst="roundRect">
            <a:avLst/>
          </a:prstGeom>
          <a:solidFill>
            <a:srgbClr val="E4F0F9"/>
          </a:solidFill>
          <a:ln>
            <a:solidFill>
              <a:srgbClr val="E4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1A9688"/>
                </a:solidFill>
                <a:latin typeface="Aptos"/>
              </a:defRPr>
            </a:pPr>
            <a:r>
              <a:t>40.7%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response among prior accepters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359152"/>
            <a:ext cx="1444752" cy="1005840"/>
          </a:xfrm>
          <a:prstGeom prst="roundRect">
            <a:avLst/>
          </a:prstGeom>
          <a:solidFill>
            <a:srgbClr val="E4F0F9"/>
          </a:solidFill>
          <a:ln>
            <a:solidFill>
              <a:srgbClr val="E4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83296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1A9688"/>
                </a:solidFill>
                <a:latin typeface="Aptos"/>
              </a:defRPr>
            </a:pPr>
            <a:r>
              <a:t>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latest response without prior acceptance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56064" y="2359152"/>
            <a:ext cx="1444752" cy="1005840"/>
          </a:xfrm>
          <a:prstGeom prst="roundRect">
            <a:avLst/>
          </a:prstGeom>
          <a:solidFill>
            <a:srgbClr val="FCF2DA"/>
          </a:solidFill>
          <a:ln>
            <a:solidFill>
              <a:srgbClr val="FCF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47504" y="2523744"/>
            <a:ext cx="1234440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2000" b="1">
                <a:solidFill>
                  <a:srgbClr val="E9A22D"/>
                </a:solidFill>
                <a:latin typeface="Aptos"/>
              </a:defRPr>
            </a:pPr>
            <a:r>
              <a:t>4.9×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2898648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0">
                <a:solidFill>
                  <a:srgbClr val="697787"/>
                </a:solidFill>
                <a:latin typeface="Aptos"/>
              </a:defRPr>
            </a:pPr>
            <a:r>
              <a:t>propensity lift from acceptance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88620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acceptance history identifies a compact group that is 4.9× more likely to respond—ideal for the first wave of outreach.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65776"/>
            <a:ext cx="11137392" cy="1069848"/>
          </a:xfrm>
          <a:prstGeom prst="roundRect">
            <a:avLst/>
          </a:prstGeom>
          <a:solidFill>
            <a:srgbClr val="0F2747"/>
          </a:solidFill>
          <a:ln>
            <a:solidFill>
              <a:srgbClr val="0F2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28523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ADD6EE"/>
                </a:solidFill>
                <a:latin typeface="Aptos"/>
              </a:defRPr>
            </a:pPr>
            <a:r>
              <a:t>Targeting implication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59552"/>
            <a:ext cx="102870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Prioritize customers with both high spend and an accepted prior campaign; use value-tiered wine offers, then suppress low-propensity contacts from expensive channels.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56248"/>
            <a:ext cx="987552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rPr lang="en-US" dirty="0"/>
              <a:t>Source: </a:t>
            </a:r>
            <a:r>
              <a:rPr lang="en-US" dirty="0">
                <a:hlinkClick r:id="rId4"/>
              </a:rPr>
              <a:t>Kaggle Customer Personality Analysis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1">
                <a:solidFill>
                  <a:srgbClr val="1A9688"/>
                </a:solidFill>
                <a:latin typeface="Aptos"/>
              </a:defRPr>
            </a:pPr>
            <a:r>
              <a:t>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2300" b="1">
                <a:solidFill>
                  <a:srgbClr val="0F2747"/>
                </a:solidFill>
                <a:latin typeface="Aptos"/>
              </a:defRPr>
            </a:pPr>
            <a:r>
              <a:rPr sz="2000" dirty="0"/>
              <a:t>Turn customer behavior into </a:t>
            </a:r>
            <a:r>
              <a:rPr lang="en-US" sz="2000" dirty="0"/>
              <a:t>3</a:t>
            </a:r>
            <a:r>
              <a:rPr sz="2000" dirty="0"/>
              <a:t> testable moves—while improving the data needed for next-best-action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5275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697787"/>
                </a:solidFill>
                <a:latin typeface="Aptos"/>
              </a:defRPr>
            </a:pPr>
            <a:r>
              <a:rPr dirty="0"/>
              <a:t>Recommended 90-day agenda | quantify incrementality, not just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1155680" cy="22860"/>
          </a:xfrm>
          <a:prstGeom prst="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81912"/>
          <a:ext cx="38862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9651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00" b="0">
                <a:solidFill>
                  <a:srgbClr val="283442"/>
                </a:solidFill>
                <a:latin typeface="Aptos"/>
              </a:defRPr>
            </a:pPr>
            <a:r>
              <a:t>Interpretation: stores remain the dominant purchase channel (5.8/customer), so digital growth should augment—not abruptly replace—the store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81912"/>
            <a:ext cx="7022592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810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400" b="1">
                <a:solidFill>
                  <a:srgbClr val="0F2747"/>
                </a:solidFill>
                <a:latin typeface="Aptos"/>
              </a:defRPr>
            </a:pPr>
            <a:r>
              <a:rPr dirty="0"/>
              <a:t>Three data-backed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1184" y="2221992"/>
            <a:ext cx="384048" cy="384048"/>
          </a:xfrm>
          <a:prstGeom prst="roundRect">
            <a:avLst/>
          </a:prstGeom>
          <a:solidFill>
            <a:srgbClr val="1A9688"/>
          </a:solidFill>
          <a:ln>
            <a:solidFill>
              <a:srgbClr val="1A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05248" y="2348314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21992"/>
            <a:ext cx="3108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sz="1050" dirty="0"/>
              <a:t>Launch a premium retention wave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450592"/>
            <a:ext cx="5715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rPr sz="900" dirty="0"/>
              <a:t>Target top-spend customers with curated wine bundles and a controlled holdout; this quartile carries 61% of spend.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1184" y="2907792"/>
            <a:ext cx="384048" cy="384048"/>
          </a:xfrm>
          <a:prstGeom prst="roundRect">
            <a:avLst/>
          </a:prstGeom>
          <a:solidFill>
            <a:srgbClr val="2068AA"/>
          </a:solidFill>
          <a:ln>
            <a:solidFill>
              <a:srgbClr val="20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1184" y="3041565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907792"/>
            <a:ext cx="3108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sz="1050" dirty="0"/>
              <a:t>Exploit campaign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36392"/>
            <a:ext cx="5715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rPr sz="900" dirty="0"/>
              <a:t>Make prior acceptance the first targeting gate; its 4.9× response lift warrants richer contact investment.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4" y="3593592"/>
            <a:ext cx="384048" cy="384048"/>
          </a:xfrm>
          <a:prstGeom prst="roundRect">
            <a:avLst/>
          </a:prstGeom>
          <a:solidFill>
            <a:srgbClr val="E9A22D"/>
          </a:solidFill>
          <a:ln>
            <a:solidFill>
              <a:srgbClr val="E9A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89297" y="3721608"/>
            <a:ext cx="3840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dirty="0"/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593592"/>
            <a:ext cx="31089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1">
                <a:solidFill>
                  <a:srgbClr val="283442"/>
                </a:solidFill>
                <a:latin typeface="Aptos"/>
              </a:defRPr>
            </a:pPr>
            <a:r>
              <a:rPr sz="1050" dirty="0"/>
              <a:t>Convert browsing into baskets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822191"/>
            <a:ext cx="5715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00" b="0">
                <a:solidFill>
                  <a:srgbClr val="697787"/>
                </a:solidFill>
                <a:latin typeface="Aptos"/>
              </a:defRPr>
            </a:pPr>
            <a:r>
              <a:rPr sz="900" dirty="0"/>
              <a:t>Trigger site-visit abandonment and store-to-web offers; 1.3 visits per web purchase signals digital conversion friction.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846320"/>
            <a:ext cx="11137392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08406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200" b="1">
                <a:solidFill>
                  <a:srgbClr val="0F2747"/>
                </a:solidFill>
                <a:latin typeface="Aptos"/>
              </a:defRPr>
            </a:pPr>
            <a:r>
              <a:t>Limitations &amp; next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413248"/>
            <a:ext cx="10332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000" b="0">
                <a:solidFill>
                  <a:srgbClr val="283442"/>
                </a:solidFill>
                <a:latin typeface="Aptos"/>
              </a:defRPr>
            </a:pPr>
            <a:r>
              <a:rPr dirty="0"/>
              <a:t>Observed associations—not causal lift; no campaign cost, margin, exposure, offer, or time-series transaction detail. Next: run randomized holdouts and train a response/uplift model using recency, spend mix, channel behavior and acceptance history; assess profit, not opens or response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56248"/>
            <a:ext cx="987552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700" b="0">
                <a:solidFill>
                  <a:srgbClr val="697787"/>
                </a:solidFill>
                <a:latin typeface="Aptos"/>
              </a:defRPr>
            </a:pPr>
            <a:r>
              <a:rPr lang="en-US" dirty="0"/>
              <a:t>Source: </a:t>
            </a:r>
            <a:r>
              <a:rPr lang="en-US" dirty="0">
                <a:hlinkClick r:id="rId4"/>
              </a:rPr>
              <a:t>Kaggle Customer Personality Analysis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1292840" y="6537960"/>
            <a:ext cx="320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defRPr sz="800" b="1">
                <a:solidFill>
                  <a:srgbClr val="697787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728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Meruyert Alimaganbetova (CON)</cp:lastModifiedBy>
  <cp:revision>3</cp:revision>
  <dcterms:created xsi:type="dcterms:W3CDTF">2013-01-27T09:14:16Z</dcterms:created>
  <dcterms:modified xsi:type="dcterms:W3CDTF">2026-07-19T14:14:41Z</dcterms:modified>
  <cp:category/>
</cp:coreProperties>
</file>