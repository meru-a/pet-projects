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B7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38" autoAdjust="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D233F"/>
                </a:solidFill>
                <a:latin typeface="Aptos"/>
              </a:defRPr>
            </a:pPr>
            <a:r>
              <a:rPr lang="en-US"/>
              <a:t>Average product spend per customer (€)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Top-spend quartile</c:v>
                </c:pt>
              </c:strCache>
            </c:strRef>
          </c:tx>
          <c:spPr>
            <a:solidFill>
              <a:srgbClr val="00877D"/>
            </a:solidFill>
            <a:ln>
              <a:solidFill>
                <a:srgbClr val="00877D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Fish</c:v>
                </c:pt>
                <c:pt idx="3">
                  <c:v>Gold</c:v>
                </c:pt>
                <c:pt idx="4">
                  <c:v>Sweets</c:v>
                </c:pt>
                <c:pt idx="5">
                  <c:v>Fruits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741.35675675675679</c:v>
                </c:pt>
                <c:pt idx="1">
                  <c:v>455.01801801801804</c:v>
                </c:pt>
                <c:pt idx="2">
                  <c:v>89.614414414414412</c:v>
                </c:pt>
                <c:pt idx="3">
                  <c:v>79.212612612612617</c:v>
                </c:pt>
                <c:pt idx="4">
                  <c:v>64.036036036036037</c:v>
                </c:pt>
                <c:pt idx="5">
                  <c:v>62.136936936936934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87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7C4-4B49-A939-174C871BDB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customers</c:v>
                </c:pt>
              </c:strCache>
            </c:strRef>
          </c:tx>
          <c:spPr>
            <a:solidFill>
              <a:srgbClr val="0D233F"/>
            </a:solidFill>
            <a:ln>
              <a:solidFill>
                <a:srgbClr val="0D233F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Fish</c:v>
                </c:pt>
                <c:pt idx="3">
                  <c:v>Gold</c:v>
                </c:pt>
                <c:pt idx="4">
                  <c:v>Sweets</c:v>
                </c:pt>
                <c:pt idx="5">
                  <c:v>Fruits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159.31968693558099</c:v>
                </c:pt>
                <c:pt idx="1">
                  <c:v>70.757375075255865</c:v>
                </c:pt>
                <c:pt idx="2">
                  <c:v>20.270319084888623</c:v>
                </c:pt>
                <c:pt idx="3">
                  <c:v>32.187838651414808</c:v>
                </c:pt>
                <c:pt idx="4">
                  <c:v>14.663455749548465</c:v>
                </c:pt>
                <c:pt idx="5">
                  <c:v>14.400361228175798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D23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7C4-4B49-A939-174C871BDB2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8E0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D233F"/>
                </a:solidFill>
                <a:latin typeface="Aptos"/>
              </a:defRPr>
            </a:pPr>
            <a:r>
              <a:rPr lang="en-US"/>
              <a:t>Average purchases per customer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Top-spend quartile</c:v>
                </c:pt>
              </c:strCache>
            </c:strRef>
          </c:tx>
          <c:spPr>
            <a:solidFill>
              <a:srgbClr val="00877D"/>
            </a:solidFill>
            <a:ln>
              <a:solidFill>
                <a:srgbClr val="00877D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Store</c:v>
                </c:pt>
                <c:pt idx="1">
                  <c:v>Catalogue</c:v>
                </c:pt>
                <c:pt idx="2">
                  <c:v>Web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8.4810810810810811</c:v>
                </c:pt>
                <c:pt idx="1">
                  <c:v>5.92972972972973</c:v>
                </c:pt>
                <c:pt idx="2">
                  <c:v>5.6270270270270268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877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6F2-494A-B226-B0C29F1523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customers</c:v>
                </c:pt>
              </c:strCache>
            </c:strRef>
          </c:tx>
          <c:spPr>
            <a:solidFill>
              <a:srgbClr val="0D233F"/>
            </a:solidFill>
            <a:ln>
              <a:solidFill>
                <a:srgbClr val="0D233F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Store</c:v>
                </c:pt>
                <c:pt idx="1">
                  <c:v>Catalogue</c:v>
                </c:pt>
                <c:pt idx="2">
                  <c:v>Web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4.9054786273329318</c:v>
                </c:pt>
                <c:pt idx="1">
                  <c:v>1.5821794099939794</c:v>
                </c:pt>
                <c:pt idx="2">
                  <c:v>3.5701384708007224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D233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6F2-494A-B226-B0C29F1523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8E0E8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37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Customer value is sharply concentrated: 555 customers, effectively the top spending quartile, generate 61.5% of category spend. Their basket is premium and focused—wine and meat account for 80% of it. This is the value pool to protect first, with bundles that match its observed buying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most valuable audience is not simply high spenders or former responders alone. It is the overlap: 249 customers—11% of the database—with 47.4% latest-campaign response and €1,623 average spend. They are affluent, highly educated, and have a wine-and-meat-led basket, so use that profile to shape premium creative.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action plan is designed as three controlled tests rather than a broad rollout. Start with the top-spend prior accepters, use a lighter approach for the remaining high-value group, and match the channel plan to their omnichannel behavior. The current data demonstrates associations, so success should be incremental profit measured through randomized holdouts.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makash3011/customer-personality-analysi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877D"/>
                </a:solidFill>
                <a:latin typeface="Aptos"/>
              </a:defRPr>
            </a:pPr>
            <a:r>
              <a:t>1 | VALUE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099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D233F"/>
                </a:solidFill>
                <a:latin typeface="Aptos"/>
              </a:defRPr>
            </a:pPr>
            <a:r>
              <a:rPr sz="2000" dirty="0"/>
              <a:t>Customer value is concentrated—and it is built around a premium wine-and-meat basket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5F6C7B"/>
                </a:solidFill>
                <a:latin typeface="Aptos"/>
              </a:defRPr>
            </a:pPr>
            <a:r>
              <a:rPr lang="en-US" dirty="0"/>
              <a:t>Let’s start </a:t>
            </a:r>
            <a:r>
              <a:rPr dirty="0"/>
              <a:t>with the customers who matter most: the top-spend quartile accounts for most historical spend.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22860"/>
          </a:xfrm>
          <a:prstGeom prst="rect">
            <a:avLst/>
          </a:prstGeom>
          <a:solidFill>
            <a:srgbClr val="00877D"/>
          </a:solidFill>
          <a:ln>
            <a:solidFill>
              <a:srgbClr val="0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113739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D233F"/>
                </a:solidFill>
                <a:latin typeface="Aptos"/>
              </a:defRPr>
            </a:pPr>
            <a:r>
              <a:rPr dirty="0"/>
              <a:t>2,216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706" y="1645920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5F6C7B"/>
                </a:solidFill>
                <a:latin typeface="Aptos"/>
              </a:defRPr>
            </a:pPr>
            <a:r>
              <a:rPr dirty="0"/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1590142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D233F"/>
                </a:solidFill>
                <a:latin typeface="Aptos"/>
              </a:defRPr>
            </a:pPr>
            <a:r>
              <a:rPr dirty="0"/>
              <a:t>2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5F6C7B"/>
                </a:solidFill>
                <a:latin typeface="Aptos"/>
              </a:defRPr>
            </a:pPr>
            <a:r>
              <a:rPr dirty="0"/>
              <a:t>of spend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160934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D233F"/>
                </a:solidFill>
                <a:latin typeface="Aptos"/>
              </a:defRPr>
            </a:pPr>
            <a:r>
              <a:rPr dirty="0"/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0550" y="1645920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5F6C7B"/>
                </a:solidFill>
                <a:latin typeface="Aptos"/>
              </a:defRPr>
            </a:pPr>
            <a:r>
              <a:rPr dirty="0"/>
              <a:t>product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336" y="160934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D23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6303" y="1655064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5F6C7B"/>
                </a:solidFill>
                <a:latin typeface="Aptos"/>
              </a:defRPr>
            </a:pPr>
            <a:r>
              <a:rPr dirty="0"/>
              <a:t>purchase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6608" y="1609344"/>
            <a:ext cx="9601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D233F"/>
                </a:solidFill>
                <a:latin typeface="Aptos"/>
              </a:defRPr>
            </a:pPr>
            <a:r>
              <a:t>15.0%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9256" y="1609344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5F6C7B"/>
                </a:solidFill>
                <a:latin typeface="Aptos"/>
              </a:defRPr>
            </a:pPr>
            <a:r>
              <a:rPr dirty="0"/>
              <a:t>latest-campaign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40280"/>
            <a:ext cx="3063240" cy="3602736"/>
          </a:xfrm>
          <a:prstGeom prst="roundRect">
            <a:avLst/>
          </a:prstGeom>
          <a:solidFill>
            <a:srgbClr val="0D233F"/>
          </a:solidFill>
          <a:ln>
            <a:solidFill>
              <a:srgbClr val="0D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52374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AAD3EB"/>
                </a:solidFill>
                <a:latin typeface="Aptos"/>
              </a:defRPr>
            </a:pPr>
            <a:r>
              <a:t>TOP-SPEND QUARTILE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83464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"/>
              </a:defRPr>
            </a:pPr>
            <a:r>
              <a:t>61.5%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34670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of all historical category spend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3785615"/>
            <a:ext cx="2450592" cy="10972"/>
          </a:xfrm>
          <a:prstGeom prst="rect">
            <a:avLst/>
          </a:prstGeom>
          <a:solidFill>
            <a:srgbClr val="507492"/>
          </a:solidFill>
          <a:ln>
            <a:solidFill>
              <a:srgbClr val="507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4014215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D3E1EC"/>
                </a:solidFill>
                <a:latin typeface="Aptos"/>
              </a:defRPr>
            </a:pPr>
            <a:r>
              <a:t>555 customers  |  spend ≥ €1,048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379976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Average basket: €1,491</a:t>
            </a:r>
            <a:br/>
            <a:r>
              <a:t>vs €312 for all other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13892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D3E1EC"/>
                </a:solidFill>
                <a:latin typeface="Aptos"/>
              </a:defRPr>
            </a:pPr>
            <a:r>
              <a:rPr dirty="0"/>
              <a:t>The top quarter generates nearly two-thirds of spend; broad, uniform outreach would dilute investment.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3886200" y="2240280"/>
          <a:ext cx="7754112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3886200" y="5413248"/>
            <a:ext cx="7754112" cy="502920"/>
          </a:xfrm>
          <a:prstGeom prst="roundRect">
            <a:avLst/>
          </a:prstGeom>
          <a:solidFill>
            <a:srgbClr val="E5F0F7"/>
          </a:solidFill>
          <a:ln>
            <a:solidFill>
              <a:srgbClr val="E5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33087" y="5577840"/>
            <a:ext cx="7269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6303D"/>
                </a:solidFill>
                <a:latin typeface="Aptos"/>
              </a:defRPr>
            </a:pPr>
            <a:r>
              <a:t>Wine (€741) and meat (€455) make up 80% of the top-spender basket—lead with premium bundles, not gold-product discounts.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100584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5F6C7B"/>
                </a:solidFill>
                <a:latin typeface="Aptos"/>
              </a:defRPr>
            </a:pPr>
            <a:r>
              <a:rPr lang="en-US" dirty="0"/>
              <a:t>Data s</a:t>
            </a:r>
            <a:r>
              <a:rPr dirty="0"/>
              <a:t>ource: </a:t>
            </a:r>
            <a:r>
              <a:rPr dirty="0">
                <a:hlinkClick r:id="rId4"/>
              </a:rPr>
              <a:t>Kaggle Customer Personality Analysis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1292840" y="652881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5F6C7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877D"/>
                </a:solidFill>
                <a:latin typeface="Aptos"/>
              </a:defRPr>
            </a:pPr>
            <a:r>
              <a:t>2 | PRIORITY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09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D233F"/>
                </a:solidFill>
                <a:latin typeface="Aptos"/>
              </a:defRPr>
            </a:pPr>
            <a:r>
              <a:t>A small 11% audience combines high value with demonstrated campaign propensity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5F6C7B"/>
                </a:solidFill>
                <a:latin typeface="Aptos"/>
              </a:defRPr>
            </a:pPr>
            <a:r>
              <a:t>Prior campaign acceptance and spend together create a clear first-wave target.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22860"/>
          </a:xfrm>
          <a:prstGeom prst="rect">
            <a:avLst/>
          </a:prstGeom>
          <a:solidFill>
            <a:srgbClr val="00877D"/>
          </a:solidFill>
          <a:ln>
            <a:solidFill>
              <a:srgbClr val="0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00877D"/>
                </a:solidFill>
                <a:latin typeface="Aptos"/>
              </a:defRPr>
            </a:pPr>
            <a:r>
              <a:t>LATEST-CAMPAIGN RESPONSE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3491" y="1629196"/>
            <a:ext cx="374903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0D233F"/>
                </a:solidFill>
                <a:latin typeface="Aptos"/>
              </a:defRPr>
            </a:pPr>
            <a:r>
              <a:rPr dirty="0"/>
              <a:t>Prior campaign acceptance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44383" y="160020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0D233F"/>
                </a:solidFill>
                <a:latin typeface="Aptos"/>
              </a:defRPr>
            </a:pPr>
            <a:r>
              <a:t>No prior campaign acceptance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" y="1901952"/>
            <a:ext cx="6583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5F6C7B"/>
                </a:solidFill>
                <a:latin typeface="Aptos"/>
              </a:defRPr>
            </a:pPr>
            <a:r>
              <a:rPr dirty="0"/>
              <a:t>SPEND</a:t>
            </a:r>
            <a:br>
              <a:rPr dirty="0"/>
            </a:br>
            <a:r>
              <a:rPr dirty="0"/>
              <a:t>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523743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0D233F"/>
                </a:solidFill>
                <a:latin typeface="Aptos"/>
              </a:defRPr>
            </a:pPr>
            <a:r>
              <a:rPr dirty="0"/>
              <a:t>Top-spend</a:t>
            </a:r>
            <a:br>
              <a:rPr dirty="0"/>
            </a:br>
            <a:r>
              <a:rPr dirty="0"/>
              <a:t>quartile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1874519"/>
            <a:ext cx="4315968" cy="1481328"/>
          </a:xfrm>
          <a:prstGeom prst="roundRect">
            <a:avLst/>
          </a:prstGeom>
          <a:solidFill>
            <a:srgbClr val="00877D"/>
          </a:solidFill>
          <a:ln>
            <a:solidFill>
              <a:srgbClr val="0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07568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249 customers  |  11% of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4086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47.4%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752344"/>
            <a:ext cx="1920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rPr dirty="0"/>
              <a:t>latest response rate</a:t>
            </a:r>
            <a:r>
              <a:rPr lang="en-US" dirty="0"/>
              <a:t> </a:t>
            </a:r>
            <a:r>
              <a:rPr lang="en-US" sz="900" dirty="0"/>
              <a:t>within segment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343400" y="240487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€1,623</a:t>
            </a:r>
            <a:br/>
            <a:r>
              <a:t>avg. spend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874519"/>
            <a:ext cx="4315968" cy="1481328"/>
          </a:xfrm>
          <a:prstGeom prst="roundRect">
            <a:avLst/>
          </a:prstGeom>
          <a:solidFill>
            <a:srgbClr val="4379B8"/>
          </a:solidFill>
          <a:ln>
            <a:solidFill>
              <a:srgbClr val="437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207568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306 customers  |  14% of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4086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16.0%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52344"/>
            <a:ext cx="1920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rPr dirty="0"/>
              <a:t>latest response rate</a:t>
            </a:r>
            <a:r>
              <a:rPr lang="en-US" dirty="0"/>
              <a:t> </a:t>
            </a:r>
            <a:r>
              <a:rPr lang="en-US" sz="900" dirty="0"/>
              <a:t>within segment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9171432" y="240487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€1,384</a:t>
            </a:r>
            <a:br/>
            <a:r>
              <a:t>avg.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242816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0D233F"/>
                </a:solidFill>
                <a:latin typeface="Aptos"/>
              </a:defRPr>
            </a:pPr>
            <a:r>
              <a:t>Other</a:t>
            </a:r>
            <a:br/>
            <a:r>
              <a:t>customers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25880" y="3749039"/>
            <a:ext cx="4315968" cy="1481328"/>
          </a:xfrm>
          <a:prstGeom prst="roundRect">
            <a:avLst/>
          </a:prstGeom>
          <a:solidFill>
            <a:srgbClr val="5C8F9C"/>
          </a:solidFill>
          <a:ln>
            <a:solidFill>
              <a:srgbClr val="5C8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54480" y="3950207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210 customers  |  9% of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1538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32.9%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26864"/>
            <a:ext cx="1920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rPr dirty="0"/>
              <a:t>latest response rate</a:t>
            </a:r>
            <a:r>
              <a:rPr lang="en-US" dirty="0"/>
              <a:t> </a:t>
            </a:r>
            <a:r>
              <a:rPr lang="en-US" sz="900" dirty="0"/>
              <a:t>within segment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4343400" y="42793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€466</a:t>
            </a:r>
            <a:br/>
            <a:r>
              <a:t>avg. spend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749039"/>
            <a:ext cx="4315968" cy="1481328"/>
          </a:xfrm>
          <a:prstGeom prst="roundRect">
            <a:avLst/>
          </a:prstGeom>
          <a:solidFill>
            <a:srgbClr val="A8B7C4"/>
          </a:solidFill>
          <a:ln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82512" y="3950207"/>
            <a:ext cx="35661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rPr dirty="0"/>
              <a:t>1,451 customers  |  6</a:t>
            </a:r>
            <a:r>
              <a:rPr lang="en-US" dirty="0"/>
              <a:t>6</a:t>
            </a:r>
            <a:r>
              <a:rPr dirty="0"/>
              <a:t>% of 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15383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626864"/>
            <a:ext cx="192024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rPr dirty="0"/>
              <a:t>latest response rate</a:t>
            </a:r>
            <a:r>
              <a:rPr lang="en-US" dirty="0"/>
              <a:t> </a:t>
            </a:r>
            <a:r>
              <a:rPr lang="en-US" sz="900" dirty="0"/>
              <a:t>within segment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9171432" y="4279392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ptos"/>
              </a:defRPr>
            </a:pPr>
            <a:r>
              <a:t>€289</a:t>
            </a:r>
            <a:br/>
            <a:r>
              <a:t>avg. spend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25880" y="3328416"/>
            <a:ext cx="9144000" cy="256032"/>
          </a:xfrm>
          <a:prstGeom prst="roundRect">
            <a:avLst/>
          </a:prstGeom>
          <a:solidFill>
            <a:srgbClr val="FCF3DE"/>
          </a:solidFill>
          <a:ln>
            <a:solidFill>
              <a:srgbClr val="FC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54480" y="3392424"/>
            <a:ext cx="8686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50" b="1">
                <a:solidFill>
                  <a:srgbClr val="26303D"/>
                </a:solidFill>
                <a:latin typeface="Aptos"/>
              </a:defRPr>
            </a:pPr>
            <a:r>
              <a:t>Priority: 249 top-spend prior accepters deliver a 47.4% response rate and €1,623 average spend.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62488" y="1874519"/>
            <a:ext cx="877824" cy="3355848"/>
          </a:xfrm>
          <a:prstGeom prst="roundRect">
            <a:avLst/>
          </a:prstGeom>
          <a:solidFill>
            <a:srgbClr val="0D233F"/>
          </a:solidFill>
          <a:ln>
            <a:solidFill>
              <a:srgbClr val="0D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881360" y="2194560"/>
            <a:ext cx="621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B5D9EC"/>
                </a:solidFill>
                <a:latin typeface="Aptos"/>
              </a:defRPr>
            </a:pPr>
            <a:r>
              <a:t>PRIORITY</a:t>
            </a:r>
            <a:br/>
            <a:r>
              <a:t>AUDIENCE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72216" y="2834640"/>
            <a:ext cx="6400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11%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3106281"/>
            <a:ext cx="60350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Aptos"/>
              </a:defRPr>
            </a:pPr>
            <a:r>
              <a:rPr sz="1200" b="1" dirty="0"/>
              <a:t>of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3072" y="3694176"/>
            <a:ext cx="6583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47.4%</a:t>
            </a:r>
            <a:br>
              <a:rPr sz="1200" dirty="0"/>
            </a:br>
            <a:r>
              <a:rPr sz="1200" dirty="0"/>
              <a:t>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63072" y="4352544"/>
            <a:ext cx="65836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200" dirty="0"/>
              <a:t>€1.6k</a:t>
            </a:r>
            <a:br>
              <a:rPr sz="1200" dirty="0"/>
            </a:br>
            <a:r>
              <a:rPr sz="1200" dirty="0"/>
              <a:t>spend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559552"/>
            <a:ext cx="11137392" cy="5577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5715000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877D"/>
                </a:solidFill>
                <a:latin typeface="Aptos"/>
              </a:defRPr>
            </a:pPr>
            <a:r>
              <a:rPr dirty="0"/>
              <a:t>WHO THEY ARE</a:t>
            </a:r>
            <a:br>
              <a:rPr lang="en-US" dirty="0"/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(11% of base)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56231" y="5705856"/>
            <a:ext cx="56235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50" b="1">
                <a:solidFill>
                  <a:srgbClr val="26303D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€75.2k average income  |  92.6% have Graduation, Master’s or PhD education  |  33.3% have children/teens at home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35824" y="5715000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877D"/>
                </a:solidFill>
                <a:latin typeface="Aptos"/>
              </a:defRPr>
            </a:pPr>
            <a:r>
              <a:rPr dirty="0"/>
              <a:t>WHAT THEY BUY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705856"/>
            <a:ext cx="2331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50" b="1">
                <a:solidFill>
                  <a:srgbClr val="26303D"/>
                </a:solidFill>
                <a:latin typeface="Aptos"/>
              </a:defRPr>
            </a:pPr>
            <a:r>
              <a:t>Wine + meat = 80% of basket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47104"/>
            <a:ext cx="100584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5F6C7B"/>
                </a:solidFill>
                <a:latin typeface="Aptos"/>
              </a:defRPr>
            </a:pPr>
            <a:r>
              <a:rPr lang="en-US" dirty="0"/>
              <a:t>Data source: </a:t>
            </a:r>
            <a:r>
              <a:rPr lang="en-US" dirty="0">
                <a:hlinkClick r:id="rId3"/>
              </a:rPr>
              <a:t>Kaggle Customer Personality Analysis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1292840" y="652881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5F6C7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00877D"/>
                </a:solidFill>
                <a:latin typeface="Aptos"/>
              </a:defRPr>
            </a:pPr>
            <a:r>
              <a:t>3 |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09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D233F"/>
                </a:solidFill>
                <a:latin typeface="Aptos"/>
              </a:defRPr>
            </a:pPr>
            <a:r>
              <a:t>Use premium offers and the right channel—then prove incremental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50976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5F6C7B"/>
                </a:solidFill>
                <a:latin typeface="Aptos"/>
              </a:defRPr>
            </a:pPr>
            <a:r>
              <a:t>Three tests turn the observed customer signals into a measurable commercial program.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22860"/>
          </a:xfrm>
          <a:prstGeom prst="rect">
            <a:avLst/>
          </a:prstGeom>
          <a:solidFill>
            <a:srgbClr val="00877D"/>
          </a:solidFill>
          <a:ln>
            <a:solidFill>
              <a:srgbClr val="0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81912"/>
          <a:ext cx="42519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654296"/>
            <a:ext cx="4251960" cy="502920"/>
          </a:xfrm>
          <a:prstGeom prst="roundRect">
            <a:avLst/>
          </a:prstGeom>
          <a:solidFill>
            <a:srgbClr val="E5F0F7"/>
          </a:solidFill>
          <a:ln>
            <a:solidFill>
              <a:srgbClr val="E5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30" b="1">
                <a:solidFill>
                  <a:srgbClr val="26303D"/>
                </a:solidFill>
                <a:latin typeface="Aptos"/>
              </a:defRPr>
            </a:pPr>
            <a:r>
              <a:t>High-value customers use all channels; catalogue usage is 3.7× higher than the rest of the base (5.9 vs 1.6 purchases).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02352" y="1609344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00877D"/>
                </a:solidFill>
                <a:latin typeface="Aptos"/>
              </a:defRPr>
            </a:pPr>
            <a:r>
              <a:t>90-DAY TEST AGENDA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965960"/>
            <a:ext cx="438912" cy="438912"/>
          </a:xfrm>
          <a:prstGeom prst="roundRect">
            <a:avLst/>
          </a:prstGeom>
          <a:solidFill>
            <a:srgbClr val="00877D"/>
          </a:solidFill>
          <a:ln>
            <a:solidFill>
              <a:srgbClr val="00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02352" y="2093976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65960"/>
            <a:ext cx="3520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D233F"/>
                </a:solidFill>
                <a:latin typeface="Aptos"/>
              </a:defRPr>
            </a:pPr>
            <a:r>
              <a:rPr dirty="0"/>
              <a:t>Protect the priority 249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203704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rPr dirty="0"/>
              <a:t>Lead with a premium wine-and-meat bundle for top-spend prior accepters.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925424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93224" y="2028018"/>
            <a:ext cx="153619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00877D"/>
                </a:solidFill>
                <a:latin typeface="Aptos"/>
              </a:defRPr>
            </a:pPr>
            <a:r>
              <a:rPr dirty="0"/>
              <a:t>47.4% response</a:t>
            </a:r>
            <a:r>
              <a:rPr lang="en-US" dirty="0"/>
              <a:t> rate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784080" y="2267154"/>
            <a:ext cx="1591056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750" b="0">
                <a:solidFill>
                  <a:srgbClr val="5F6C7B"/>
                </a:solidFill>
                <a:latin typeface="Aptos"/>
              </a:defRPr>
            </a:pPr>
            <a:r>
              <a:rPr dirty="0"/>
              <a:t>Measure: incremental profit vs holdout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990088"/>
            <a:ext cx="438912" cy="438912"/>
          </a:xfrm>
          <a:prstGeom prst="roundRect">
            <a:avLst/>
          </a:prstGeom>
          <a:solidFill>
            <a:srgbClr val="2364B9"/>
          </a:solidFill>
          <a:ln>
            <a:solidFill>
              <a:srgbClr val="2364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02352" y="3118104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990088"/>
            <a:ext cx="3520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D233F"/>
                </a:solidFill>
                <a:latin typeface="Aptos"/>
              </a:defRPr>
            </a:pPr>
            <a:r>
              <a:t>Retain the remaining top spenders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227832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Test a lighter premium offer for the 306 high-spend customers without prior acceptance.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978964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2" y="3093640"/>
            <a:ext cx="1536192" cy="148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2364B9"/>
                </a:solidFill>
                <a:latin typeface="Aptos"/>
              </a:defRPr>
            </a:pPr>
            <a:r>
              <a:rPr dirty="0"/>
              <a:t>16.0% response</a:t>
            </a:r>
            <a:r>
              <a:rPr lang="en-US" dirty="0"/>
              <a:t> rate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784080" y="3216648"/>
            <a:ext cx="1591056" cy="33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750" b="0">
                <a:solidFill>
                  <a:srgbClr val="5F6C7B"/>
                </a:solidFill>
                <a:latin typeface="Aptos"/>
              </a:defRPr>
            </a:pPr>
            <a:br>
              <a:rPr lang="en-US" dirty="0"/>
            </a:br>
            <a:r>
              <a:rPr dirty="0"/>
              <a:t>Measure: incremental response and spend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02352" y="4014216"/>
            <a:ext cx="438912" cy="438912"/>
          </a:xfrm>
          <a:prstGeom prst="roundRect">
            <a:avLst/>
          </a:prstGeom>
          <a:solidFill>
            <a:srgbClr val="DD961E"/>
          </a:solidFill>
          <a:ln>
            <a:solidFill>
              <a:srgbClr val="DD9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02352" y="4142232"/>
            <a:ext cx="43891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014216"/>
            <a:ext cx="3520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100" b="1">
                <a:solidFill>
                  <a:srgbClr val="0D233F"/>
                </a:solidFill>
                <a:latin typeface="Aptos"/>
              </a:defRPr>
            </a:pPr>
            <a:r>
              <a:t>Orchestrate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4251960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5F6C7B"/>
                </a:solidFill>
                <a:latin typeface="Aptos"/>
              </a:defRPr>
            </a:pPr>
            <a:r>
              <a:t>Use catalogue-led creative with store follow-up for high-value customers.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032504"/>
            <a:ext cx="1783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11512" y="4151376"/>
            <a:ext cx="15361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000" b="1">
                <a:solidFill>
                  <a:srgbClr val="DD961E"/>
                </a:solidFill>
                <a:latin typeface="Aptos"/>
              </a:defRPr>
            </a:pPr>
            <a:r>
              <a:rPr dirty="0"/>
              <a:t>5.9 catalogue buys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4370832"/>
            <a:ext cx="1591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750" b="0">
                <a:solidFill>
                  <a:srgbClr val="5F6C7B"/>
                </a:solidFill>
                <a:latin typeface="Aptos"/>
              </a:defRPr>
            </a:pPr>
            <a:r>
              <a:rPr dirty="0"/>
              <a:t>Measure: channel-level profit and repeat purchase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468112"/>
            <a:ext cx="11137392" cy="658368"/>
          </a:xfrm>
          <a:prstGeom prst="roundRect">
            <a:avLst/>
          </a:prstGeom>
          <a:solidFill>
            <a:srgbClr val="0D233F"/>
          </a:solidFill>
          <a:ln>
            <a:solidFill>
              <a:srgbClr val="0D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5669280"/>
            <a:ext cx="19202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B5D9EC"/>
                </a:solidFill>
                <a:latin typeface="Aptos"/>
              </a:defRPr>
            </a:pPr>
            <a:r>
              <a:t>LIMITATIONS &amp; NEXT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5596128"/>
            <a:ext cx="84124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50" b="0">
                <a:solidFill>
                  <a:srgbClr val="FFFFFF"/>
                </a:solidFill>
                <a:latin typeface="Aptos"/>
              </a:defRPr>
            </a:pPr>
            <a:r>
              <a:rPr dirty="0"/>
              <a:t>The </a:t>
            </a:r>
            <a:r>
              <a:rPr lang="en-US" dirty="0"/>
              <a:t>data</a:t>
            </a:r>
            <a:r>
              <a:rPr dirty="0"/>
              <a:t> shows patterns, not causal impact: it lacks offer exposure, campaign cost and product-margin data. Run randomized holdouts, evaluate incremental profit, then build a response/uplift model using spend, recency, channel and campaign-history signals.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1005840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5F6C7B"/>
                </a:solidFill>
                <a:latin typeface="Aptos"/>
              </a:defRPr>
            </a:pPr>
            <a:r>
              <a:rPr lang="en-US" dirty="0"/>
              <a:t>Data source: </a:t>
            </a:r>
            <a:r>
              <a:rPr lang="en-US" dirty="0">
                <a:hlinkClick r:id="rId4"/>
              </a:rPr>
              <a:t>Kaggle Customer Personality Analysis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11292840" y="6528816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5F6C7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AF1042-E38A-5C34-2490-C725933941D1}"/>
              </a:ext>
            </a:extLst>
          </p:cNvPr>
          <p:cNvSpPr txBox="1"/>
          <p:nvPr/>
        </p:nvSpPr>
        <p:spPr>
          <a:xfrm>
            <a:off x="9692640" y="1609344"/>
            <a:ext cx="1783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Audience evidence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737</Words>
  <Application>Microsoft Office PowerPoint</Application>
  <PresentationFormat>Widescreen</PresentationFormat>
  <Paragraphs>89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Meruyert Alimaganbetova (CON)</cp:lastModifiedBy>
  <cp:revision>4</cp:revision>
  <dcterms:created xsi:type="dcterms:W3CDTF">2013-01-27T09:14:16Z</dcterms:created>
  <dcterms:modified xsi:type="dcterms:W3CDTF">2026-07-19T15:26:38Z</dcterms:modified>
  <cp:category/>
</cp:coreProperties>
</file>